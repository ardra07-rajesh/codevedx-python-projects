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Nunito SemiBold" panose="020F0502020204030204" pitchFamily="2" charset="0"/>
      <p:regular r:id="rId13"/>
    </p:embeddedFont>
    <p:embeddedFont>
      <p:font typeface="PT Sans" panose="020F0502020204030204" pitchFamily="3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638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52577" y="1780133"/>
            <a:ext cx="4667845" cy="88002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Weather Application — API Integration</a:t>
            </a:r>
            <a:endParaRPr lang="en-US" sz="2750" dirty="0"/>
          </a:p>
        </p:txBody>
      </p:sp>
      <p:sp>
        <p:nvSpPr>
          <p:cNvPr id="4" name="Text 1"/>
          <p:cNvSpPr/>
          <p:nvPr/>
        </p:nvSpPr>
        <p:spPr>
          <a:xfrm>
            <a:off x="3952577" y="2884511"/>
            <a:ext cx="4667845" cy="1012239"/>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Submitted by Ardra Rajesh </a:t>
            </a:r>
          </a:p>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CODEVEDX Python Internship </a:t>
            </a:r>
          </a:p>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 B.Tech CSE </a:t>
            </a:r>
          </a:p>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 02 July 2026</a:t>
            </a:r>
            <a:endParaRPr lang="en-US" sz="1150" dirty="0"/>
          </a:p>
        </p:txBody>
      </p:sp>
      <p:sp>
        <p:nvSpPr>
          <p:cNvPr id="5" name="Rectangle 4">
            <a:extLst>
              <a:ext uri="{FF2B5EF4-FFF2-40B4-BE49-F238E27FC236}">
                <a16:creationId xmlns:a16="http://schemas.microsoft.com/office/drawing/2014/main" id="{15964E89-F487-D248-601A-30A339E13936}"/>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1760786"/>
            <a:ext cx="4667845" cy="440010"/>
          </a:xfrm>
          <a:prstGeom prst="rect">
            <a:avLst/>
          </a:prstGeom>
          <a:noFill/>
          <a:ln/>
        </p:spPr>
        <p:txBody>
          <a:bodyPr wrap="none" lIns="0" tIns="0" rIns="0" bIns="0" rtlCol="0" anchor="t"/>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Why this matters</a:t>
            </a:r>
            <a:endParaRPr lang="en-US" sz="2750" dirty="0"/>
          </a:p>
        </p:txBody>
      </p:sp>
      <p:sp>
        <p:nvSpPr>
          <p:cNvPr id="4" name="Text 1"/>
          <p:cNvSpPr/>
          <p:nvPr/>
        </p:nvSpPr>
        <p:spPr>
          <a:xfrm>
            <a:off x="523577" y="2425154"/>
            <a:ext cx="4667845" cy="95756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Accessible, accurate weather data helps people plan travel, outdoor activities, and daily routines. This Python console app retrieves live weather via OpenWeatherMap and can run offline via a Mock Mode for demos and testing.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699195"/>
            <a:ext cx="4667845" cy="440010"/>
          </a:xfrm>
          <a:prstGeom prst="rect">
            <a:avLst/>
          </a:prstGeom>
          <a:noFill/>
          <a:ln/>
        </p:spPr>
        <p:txBody>
          <a:bodyPr wrap="none" lIns="0" tIns="0" rIns="0" bIns="0" rtlCol="0" anchor="t"/>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Core Objectives</a:t>
            </a:r>
            <a:endParaRPr lang="en-US" sz="2750" dirty="0"/>
          </a:p>
        </p:txBody>
      </p:sp>
      <p:sp>
        <p:nvSpPr>
          <p:cNvPr id="4" name="Shape 1"/>
          <p:cNvSpPr/>
          <p:nvPr/>
        </p:nvSpPr>
        <p:spPr>
          <a:xfrm>
            <a:off x="523577" y="1363563"/>
            <a:ext cx="1456209" cy="2054349"/>
          </a:xfrm>
          <a:prstGeom prst="roundRect">
            <a:avLst>
              <a:gd name="adj" fmla="val 15411"/>
            </a:avLst>
          </a:prstGeom>
          <a:solidFill>
            <a:srgbClr val="F3F3FF"/>
          </a:solidFill>
          <a:ln w="14288">
            <a:solidFill>
              <a:srgbClr val="2D4DF2"/>
            </a:solidFill>
            <a:prstDash val="solid"/>
          </a:ln>
        </p:spPr>
      </p:sp>
      <p:sp>
        <p:nvSpPr>
          <p:cNvPr id="5" name="Text 2"/>
          <p:cNvSpPr/>
          <p:nvPr/>
        </p:nvSpPr>
        <p:spPr>
          <a:xfrm>
            <a:off x="687437" y="1527423"/>
            <a:ext cx="1128489"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Build the App</a:t>
            </a:r>
            <a:endParaRPr lang="en-US" sz="1350" dirty="0"/>
          </a:p>
        </p:txBody>
      </p:sp>
      <p:sp>
        <p:nvSpPr>
          <p:cNvPr id="6" name="Text 3"/>
          <p:cNvSpPr/>
          <p:nvPr/>
        </p:nvSpPr>
        <p:spPr>
          <a:xfrm>
            <a:off x="687437" y="1837134"/>
            <a:ext cx="1128489" cy="71817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Develop a Python weather application.</a:t>
            </a:r>
            <a:endParaRPr lang="en-US" sz="1150" dirty="0"/>
          </a:p>
        </p:txBody>
      </p:sp>
      <p:sp>
        <p:nvSpPr>
          <p:cNvPr id="7" name="Shape 4"/>
          <p:cNvSpPr/>
          <p:nvPr/>
        </p:nvSpPr>
        <p:spPr>
          <a:xfrm>
            <a:off x="2129358" y="1363563"/>
            <a:ext cx="1456209" cy="2054349"/>
          </a:xfrm>
          <a:prstGeom prst="roundRect">
            <a:avLst>
              <a:gd name="adj" fmla="val 15411"/>
            </a:avLst>
          </a:prstGeom>
          <a:solidFill>
            <a:srgbClr val="F3F3FF"/>
          </a:solidFill>
          <a:ln w="14288">
            <a:solidFill>
              <a:srgbClr val="018CE1"/>
            </a:solidFill>
            <a:prstDash val="solid"/>
          </a:ln>
        </p:spPr>
      </p:sp>
      <p:sp>
        <p:nvSpPr>
          <p:cNvPr id="8" name="Text 5"/>
          <p:cNvSpPr/>
          <p:nvPr/>
        </p:nvSpPr>
        <p:spPr>
          <a:xfrm>
            <a:off x="2293218" y="1527423"/>
            <a:ext cx="1128489" cy="43993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API Integration</a:t>
            </a:r>
            <a:endParaRPr lang="en-US" sz="1350" dirty="0"/>
          </a:p>
        </p:txBody>
      </p:sp>
      <p:sp>
        <p:nvSpPr>
          <p:cNvPr id="9" name="Text 6"/>
          <p:cNvSpPr/>
          <p:nvPr/>
        </p:nvSpPr>
        <p:spPr>
          <a:xfrm>
            <a:off x="2293218" y="2057102"/>
            <a:ext cx="1128489" cy="95756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Connect to OpenWeatherMap for real-time data.</a:t>
            </a:r>
            <a:endParaRPr lang="en-US" sz="1150" dirty="0"/>
          </a:p>
        </p:txBody>
      </p:sp>
      <p:sp>
        <p:nvSpPr>
          <p:cNvPr id="10" name="Shape 7"/>
          <p:cNvSpPr/>
          <p:nvPr/>
        </p:nvSpPr>
        <p:spPr>
          <a:xfrm>
            <a:off x="3735139" y="1363563"/>
            <a:ext cx="1456209" cy="2054349"/>
          </a:xfrm>
          <a:prstGeom prst="roundRect">
            <a:avLst>
              <a:gd name="adj" fmla="val 15411"/>
            </a:avLst>
          </a:prstGeom>
          <a:solidFill>
            <a:srgbClr val="F3F3FF"/>
          </a:solidFill>
          <a:ln w="14288">
            <a:solidFill>
              <a:srgbClr val="DA33BF"/>
            </a:solidFill>
            <a:prstDash val="solid"/>
          </a:ln>
        </p:spPr>
      </p:sp>
      <p:sp>
        <p:nvSpPr>
          <p:cNvPr id="11" name="Text 8"/>
          <p:cNvSpPr/>
          <p:nvPr/>
        </p:nvSpPr>
        <p:spPr>
          <a:xfrm>
            <a:off x="3898999" y="1527423"/>
            <a:ext cx="1128489" cy="43993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Offline Mock Mode</a:t>
            </a:r>
            <a:endParaRPr lang="en-US" sz="1350" dirty="0"/>
          </a:p>
        </p:txBody>
      </p:sp>
      <p:sp>
        <p:nvSpPr>
          <p:cNvPr id="12" name="Text 9"/>
          <p:cNvSpPr/>
          <p:nvPr/>
        </p:nvSpPr>
        <p:spPr>
          <a:xfrm>
            <a:off x="3898999" y="2057102"/>
            <a:ext cx="1128489"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Provide built-in data for &gt;60 Indian cities and international locations.</a:t>
            </a:r>
            <a:endParaRPr lang="en-US" sz="1150" dirty="0"/>
          </a:p>
        </p:txBody>
      </p:sp>
      <p:sp>
        <p:nvSpPr>
          <p:cNvPr id="13" name="Shape 10"/>
          <p:cNvSpPr/>
          <p:nvPr/>
        </p:nvSpPr>
        <p:spPr>
          <a:xfrm>
            <a:off x="523577" y="3567485"/>
            <a:ext cx="4667771" cy="876821"/>
          </a:xfrm>
          <a:prstGeom prst="roundRect">
            <a:avLst>
              <a:gd name="adj" fmla="val 25595"/>
            </a:avLst>
          </a:prstGeom>
          <a:solidFill>
            <a:srgbClr val="F3F3FF"/>
          </a:solidFill>
          <a:ln w="14288">
            <a:solidFill>
              <a:srgbClr val="2D4DF2"/>
            </a:solidFill>
            <a:prstDash val="solid"/>
          </a:ln>
        </p:spPr>
      </p:sp>
      <p:sp>
        <p:nvSpPr>
          <p:cNvPr id="14" name="Text 11"/>
          <p:cNvSpPr/>
          <p:nvPr/>
        </p:nvSpPr>
        <p:spPr>
          <a:xfrm>
            <a:off x="687437" y="3731344"/>
            <a:ext cx="4340051"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Persistence &amp; Logging</a:t>
            </a:r>
            <a:endParaRPr lang="en-US" sz="1350" dirty="0"/>
          </a:p>
        </p:txBody>
      </p:sp>
      <p:sp>
        <p:nvSpPr>
          <p:cNvPr id="15" name="Text 12"/>
          <p:cNvSpPr/>
          <p:nvPr/>
        </p:nvSpPr>
        <p:spPr>
          <a:xfrm>
            <a:off x="687437" y="4041056"/>
            <a:ext cx="4340051" cy="239390"/>
          </a:xfrm>
          <a:prstGeom prst="rect">
            <a:avLst/>
          </a:prstGeom>
          <a:noFill/>
          <a:ln/>
        </p:spPr>
        <p:txBody>
          <a:bodyPr wrap="none" lIns="0" tIns="0" rIns="0" bIns="0" rtlCol="0" anchor="t"/>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Maintain search history (JSON) and application logs.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577" y="1338783"/>
            <a:ext cx="8096845" cy="440010"/>
          </a:xfrm>
          <a:prstGeom prst="rect">
            <a:avLst/>
          </a:prstGeom>
          <a:noFill/>
          <a:ln/>
        </p:spPr>
        <p:txBody>
          <a:bodyPr wrap="none" lIns="0" tIns="0" rIns="0" bIns="0" rtlCol="0" anchor="t"/>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Key Features</a:t>
            </a:r>
            <a:endParaRPr lang="en-US" sz="2750" dirty="0"/>
          </a:p>
        </p:txBody>
      </p:sp>
      <p:pic>
        <p:nvPicPr>
          <p:cNvPr id="3" name="Image 0" descr="preencoded.png"/>
          <p:cNvPicPr>
            <a:picLocks noChangeAspect="1"/>
          </p:cNvPicPr>
          <p:nvPr/>
        </p:nvPicPr>
        <p:blipFill>
          <a:blip r:embed="rId3"/>
          <a:stretch>
            <a:fillRect/>
          </a:stretch>
        </p:blipFill>
        <p:spPr>
          <a:xfrm>
            <a:off x="523577" y="2078013"/>
            <a:ext cx="414412" cy="517996"/>
          </a:xfrm>
          <a:prstGeom prst="rect">
            <a:avLst/>
          </a:prstGeom>
        </p:spPr>
      </p:pic>
      <p:sp>
        <p:nvSpPr>
          <p:cNvPr id="4" name="Text 1"/>
          <p:cNvSpPr/>
          <p:nvPr/>
        </p:nvSpPr>
        <p:spPr>
          <a:xfrm>
            <a:off x="1124992" y="2078013"/>
            <a:ext cx="1282526" cy="43993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Real-Time Weather</a:t>
            </a:r>
            <a:endParaRPr lang="en-US" sz="1350" dirty="0"/>
          </a:p>
        </p:txBody>
      </p:sp>
      <p:sp>
        <p:nvSpPr>
          <p:cNvPr id="5" name="Text 2"/>
          <p:cNvSpPr/>
          <p:nvPr/>
        </p:nvSpPr>
        <p:spPr>
          <a:xfrm>
            <a:off x="1124992" y="2607692"/>
            <a:ext cx="1282526"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City, country, temperature, feels-like, humidity, wind speed, condition, retrieval timestamp.</a:t>
            </a:r>
            <a:endParaRPr lang="en-US" sz="1150" dirty="0"/>
          </a:p>
        </p:txBody>
      </p:sp>
      <p:pic>
        <p:nvPicPr>
          <p:cNvPr id="6" name="Image 1" descr="preencoded.png"/>
          <p:cNvPicPr>
            <a:picLocks noChangeAspect="1"/>
          </p:cNvPicPr>
          <p:nvPr/>
        </p:nvPicPr>
        <p:blipFill>
          <a:blip r:embed="rId4"/>
          <a:stretch>
            <a:fillRect/>
          </a:stretch>
        </p:blipFill>
        <p:spPr>
          <a:xfrm>
            <a:off x="2594521" y="2078013"/>
            <a:ext cx="414412" cy="517996"/>
          </a:xfrm>
          <a:prstGeom prst="rect">
            <a:avLst/>
          </a:prstGeom>
        </p:spPr>
      </p:pic>
      <p:sp>
        <p:nvSpPr>
          <p:cNvPr id="7" name="Text 3"/>
          <p:cNvSpPr/>
          <p:nvPr/>
        </p:nvSpPr>
        <p:spPr>
          <a:xfrm>
            <a:off x="3195935" y="2078013"/>
            <a:ext cx="1282526" cy="43993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Offline Mock Mode</a:t>
            </a:r>
            <a:endParaRPr lang="en-US" sz="1350" dirty="0"/>
          </a:p>
        </p:txBody>
      </p:sp>
      <p:sp>
        <p:nvSpPr>
          <p:cNvPr id="8" name="Text 4"/>
          <p:cNvSpPr/>
          <p:nvPr/>
        </p:nvSpPr>
        <p:spPr>
          <a:xfrm>
            <a:off x="3195935" y="2607692"/>
            <a:ext cx="1282526"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Works without internet or API key using built-in dataset for testing and demos.</a:t>
            </a:r>
            <a:endParaRPr lang="en-US" sz="1150" dirty="0"/>
          </a:p>
        </p:txBody>
      </p:sp>
      <p:pic>
        <p:nvPicPr>
          <p:cNvPr id="9" name="Image 2" descr="preencoded.png"/>
          <p:cNvPicPr>
            <a:picLocks noChangeAspect="1"/>
          </p:cNvPicPr>
          <p:nvPr/>
        </p:nvPicPr>
        <p:blipFill>
          <a:blip r:embed="rId5"/>
          <a:stretch>
            <a:fillRect/>
          </a:stretch>
        </p:blipFill>
        <p:spPr>
          <a:xfrm>
            <a:off x="4665464" y="2078013"/>
            <a:ext cx="414412" cy="517996"/>
          </a:xfrm>
          <a:prstGeom prst="rect">
            <a:avLst/>
          </a:prstGeom>
        </p:spPr>
      </p:pic>
      <p:sp>
        <p:nvSpPr>
          <p:cNvPr id="10" name="Text 5"/>
          <p:cNvSpPr/>
          <p:nvPr/>
        </p:nvSpPr>
        <p:spPr>
          <a:xfrm>
            <a:off x="5266879" y="2078013"/>
            <a:ext cx="1282526"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Search History</a:t>
            </a:r>
            <a:endParaRPr lang="en-US" sz="1350" dirty="0"/>
          </a:p>
        </p:txBody>
      </p:sp>
      <p:sp>
        <p:nvSpPr>
          <p:cNvPr id="11" name="Text 6"/>
          <p:cNvSpPr/>
          <p:nvPr/>
        </p:nvSpPr>
        <p:spPr>
          <a:xfrm>
            <a:off x="5266879" y="2387724"/>
            <a:ext cx="1282526" cy="95756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Persistent JSON storage of previous queries across sessions.</a:t>
            </a:r>
            <a:endParaRPr lang="en-US" sz="1150" dirty="0"/>
          </a:p>
        </p:txBody>
      </p:sp>
      <p:pic>
        <p:nvPicPr>
          <p:cNvPr id="12" name="Image 3" descr="preencoded.png"/>
          <p:cNvPicPr>
            <a:picLocks noChangeAspect="1"/>
          </p:cNvPicPr>
          <p:nvPr/>
        </p:nvPicPr>
        <p:blipFill>
          <a:blip r:embed="rId6"/>
          <a:stretch>
            <a:fillRect/>
          </a:stretch>
        </p:blipFill>
        <p:spPr>
          <a:xfrm>
            <a:off x="6736407" y="2078013"/>
            <a:ext cx="414412" cy="517996"/>
          </a:xfrm>
          <a:prstGeom prst="rect">
            <a:avLst/>
          </a:prstGeom>
        </p:spPr>
      </p:pic>
      <p:sp>
        <p:nvSpPr>
          <p:cNvPr id="13" name="Text 7"/>
          <p:cNvSpPr/>
          <p:nvPr/>
        </p:nvSpPr>
        <p:spPr>
          <a:xfrm>
            <a:off x="7337822" y="2078013"/>
            <a:ext cx="1282601"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Unit Switching</a:t>
            </a:r>
            <a:endParaRPr lang="en-US" sz="1350" dirty="0"/>
          </a:p>
        </p:txBody>
      </p:sp>
      <p:sp>
        <p:nvSpPr>
          <p:cNvPr id="14" name="Text 8"/>
          <p:cNvSpPr/>
          <p:nvPr/>
        </p:nvSpPr>
        <p:spPr>
          <a:xfrm>
            <a:off x="7337822" y="2387724"/>
            <a:ext cx="1282601" cy="119695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Toggle between Celsius and Fahrenheit; values update automatically.</a:t>
            </a:r>
            <a:endParaRPr lang="en-US" sz="1150" dirty="0"/>
          </a:p>
        </p:txBody>
      </p:sp>
      <p:sp>
        <p:nvSpPr>
          <p:cNvPr id="16" name="Rectangle 15">
            <a:extLst>
              <a:ext uri="{FF2B5EF4-FFF2-40B4-BE49-F238E27FC236}">
                <a16:creationId xmlns:a16="http://schemas.microsoft.com/office/drawing/2014/main" id="{CC428914-E695-2AF2-AC46-B65DA300734F}"/>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1065014"/>
            <a:ext cx="8096845" cy="440010"/>
          </a:xfrm>
          <a:prstGeom prst="rect">
            <a:avLst/>
          </a:prstGeom>
          <a:noFill/>
          <a:ln/>
        </p:spPr>
        <p:txBody>
          <a:bodyPr wrap="none" lIns="0" tIns="0" rIns="0" bIns="0" rtlCol="0" anchor="t"/>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Technologies &amp; Modules</a:t>
            </a:r>
            <a:endParaRPr lang="en-US" sz="2750" dirty="0"/>
          </a:p>
        </p:txBody>
      </p:sp>
      <p:pic>
        <p:nvPicPr>
          <p:cNvPr id="3" name="Image 0" descr="preencoded.png"/>
          <p:cNvPicPr>
            <a:picLocks noChangeAspect="1"/>
          </p:cNvPicPr>
          <p:nvPr/>
        </p:nvPicPr>
        <p:blipFill>
          <a:blip r:embed="rId3"/>
          <a:stretch>
            <a:fillRect/>
          </a:stretch>
        </p:blipFill>
        <p:spPr>
          <a:xfrm>
            <a:off x="523577" y="1897633"/>
            <a:ext cx="3019723" cy="2012603"/>
          </a:xfrm>
          <a:prstGeom prst="rect">
            <a:avLst/>
          </a:prstGeom>
        </p:spPr>
      </p:pic>
      <p:sp>
        <p:nvSpPr>
          <p:cNvPr id="4" name="Text 1"/>
          <p:cNvSpPr/>
          <p:nvPr/>
        </p:nvSpPr>
        <p:spPr>
          <a:xfrm>
            <a:off x="3912989" y="2492499"/>
            <a:ext cx="5169322" cy="239390"/>
          </a:xfrm>
          <a:prstGeom prst="rect">
            <a:avLst/>
          </a:prstGeom>
          <a:noFill/>
          <a:ln/>
        </p:spPr>
        <p:txBody>
          <a:bodyPr wrap="none" lIns="0" tIns="0" rIns="0" bIns="0" rtlCol="0" anchor="t"/>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Python 3 · OpenWeatherMap API · JSON · VS Code · Git · GitHub</a:t>
            </a:r>
            <a:endParaRPr lang="en-US" sz="1150" dirty="0"/>
          </a:p>
        </p:txBody>
      </p:sp>
      <p:sp>
        <p:nvSpPr>
          <p:cNvPr id="5" name="Text 2"/>
          <p:cNvSpPr/>
          <p:nvPr/>
        </p:nvSpPr>
        <p:spPr>
          <a:xfrm>
            <a:off x="3912989" y="2866504"/>
            <a:ext cx="4712122" cy="531093"/>
          </a:xfrm>
          <a:prstGeom prst="rect">
            <a:avLst/>
          </a:prstGeom>
          <a:noFill/>
          <a:ln/>
        </p:spPr>
        <p:txBody>
          <a:bodyPr wrap="square" lIns="0" tIns="0" rIns="0" bIns="0" rtlCol="0" anchor="t">
            <a:normAutofit/>
          </a:bodyPr>
          <a:lstStyle/>
          <a:p>
            <a:pPr marL="233680" indent="-233680" algn="l">
              <a:lnSpc>
                <a:spcPct val="133000"/>
              </a:lnSpc>
              <a:buSzPct val="100000"/>
              <a:buChar char="•"/>
            </a:pPr>
            <a:r>
              <a:rPr lang="en-US" sz="1150" dirty="0">
                <a:solidFill>
                  <a:srgbClr val="00002E"/>
                </a:solidFill>
                <a:latin typeface="PT Sans" pitchFamily="34" charset="0"/>
                <a:ea typeface="PT Sans" pitchFamily="34" charset="-122"/>
                <a:cs typeface="PT Sans" pitchFamily="34" charset="-120"/>
              </a:rPr>
              <a:t>urllib.request / urllib.error / urllib.parse</a:t>
            </a:r>
            <a:endParaRPr lang="en-US" sz="1150" dirty="0"/>
          </a:p>
          <a:p>
            <a:pPr marL="233680" indent="-233680" algn="l">
              <a:lnSpc>
                <a:spcPct val="133000"/>
              </a:lnSpc>
              <a:buSzPct val="100000"/>
              <a:buChar char="•"/>
            </a:pPr>
            <a:r>
              <a:rPr lang="en-US" sz="1150" dirty="0">
                <a:solidFill>
                  <a:srgbClr val="00002E"/>
                </a:solidFill>
                <a:latin typeface="PT Sans" pitchFamily="34" charset="0"/>
                <a:ea typeface="PT Sans" pitchFamily="34" charset="-122"/>
                <a:cs typeface="PT Sans" pitchFamily="34" charset="-120"/>
              </a:rPr>
              <a:t>json, logging, datetime, os, sys</a:t>
            </a:r>
            <a:endParaRPr lang="en-US" sz="1150" dirty="0"/>
          </a:p>
        </p:txBody>
      </p:sp>
      <p:sp>
        <p:nvSpPr>
          <p:cNvPr id="7" name="Rectangle 6">
            <a:extLst>
              <a:ext uri="{FF2B5EF4-FFF2-40B4-BE49-F238E27FC236}">
                <a16:creationId xmlns:a16="http://schemas.microsoft.com/office/drawing/2014/main" id="{1C5E8195-5B79-6294-FE1A-E392129C28C7}"/>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411435"/>
            <a:ext cx="8096845"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Project Workflow</a:t>
            </a:r>
            <a:endParaRPr lang="en-US" sz="1350" dirty="0"/>
          </a:p>
        </p:txBody>
      </p:sp>
      <p:pic>
        <p:nvPicPr>
          <p:cNvPr id="3" name="Image 0" descr="preencoded.png"/>
          <p:cNvPicPr>
            <a:picLocks noChangeAspect="1"/>
          </p:cNvPicPr>
          <p:nvPr/>
        </p:nvPicPr>
        <p:blipFill>
          <a:blip r:embed="rId3"/>
          <a:stretch>
            <a:fillRect/>
          </a:stretch>
        </p:blipFill>
        <p:spPr>
          <a:xfrm>
            <a:off x="821382" y="706189"/>
            <a:ext cx="7501235" cy="4575646"/>
          </a:xfrm>
          <a:prstGeom prst="rect">
            <a:avLst/>
          </a:prstGeom>
        </p:spPr>
      </p:pic>
      <p:sp>
        <p:nvSpPr>
          <p:cNvPr id="4" name="Text 1"/>
          <p:cNvSpPr/>
          <p:nvPr/>
        </p:nvSpPr>
        <p:spPr>
          <a:xfrm>
            <a:off x="1001999" y="1614261"/>
            <a:ext cx="1709560" cy="214185"/>
          </a:xfrm>
          <a:prstGeom prst="rect">
            <a:avLst/>
          </a:prstGeom>
          <a:noFill/>
          <a:ln/>
        </p:spPr>
        <p:txBody>
          <a:bodyPr wrap="none" lIns="0" tIns="0" rIns="0" bIns="0" rtlCol="0" anchor="t"/>
          <a:lstStyle/>
          <a:p>
            <a:pPr marL="0" indent="0" algn="ctr">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Start</a:t>
            </a:r>
            <a:endParaRPr lang="en-US" sz="1350" dirty="0"/>
          </a:p>
        </p:txBody>
      </p:sp>
      <p:sp>
        <p:nvSpPr>
          <p:cNvPr id="5" name="Text 2"/>
          <p:cNvSpPr/>
          <p:nvPr/>
        </p:nvSpPr>
        <p:spPr>
          <a:xfrm>
            <a:off x="2199437" y="3629221"/>
            <a:ext cx="1709559" cy="214185"/>
          </a:xfrm>
          <a:prstGeom prst="rect">
            <a:avLst/>
          </a:prstGeom>
          <a:noFill/>
          <a:ln/>
        </p:spPr>
        <p:txBody>
          <a:bodyPr wrap="none" lIns="0" tIns="0" rIns="0" bIns="0" rtlCol="0" anchor="t"/>
          <a:lstStyle/>
          <a:p>
            <a:pPr marL="0" indent="0" algn="ctr">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Menu</a:t>
            </a:r>
            <a:endParaRPr lang="en-US" sz="1350" dirty="0"/>
          </a:p>
        </p:txBody>
      </p:sp>
      <p:sp>
        <p:nvSpPr>
          <p:cNvPr id="6" name="Text 3"/>
          <p:cNvSpPr/>
          <p:nvPr/>
        </p:nvSpPr>
        <p:spPr>
          <a:xfrm>
            <a:off x="3681528" y="1832494"/>
            <a:ext cx="1714494" cy="214185"/>
          </a:xfrm>
          <a:prstGeom prst="rect">
            <a:avLst/>
          </a:prstGeom>
          <a:noFill/>
          <a:ln/>
        </p:spPr>
        <p:txBody>
          <a:bodyPr wrap="none" lIns="0" tIns="0" rIns="0" bIns="0" rtlCol="0" anchor="t"/>
          <a:lstStyle/>
          <a:p>
            <a:pPr marL="0" indent="0" algn="ctr">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Select Source</a:t>
            </a:r>
            <a:endParaRPr lang="en-US" sz="1350" dirty="0"/>
          </a:p>
        </p:txBody>
      </p:sp>
      <p:sp>
        <p:nvSpPr>
          <p:cNvPr id="7" name="Text 4"/>
          <p:cNvSpPr/>
          <p:nvPr/>
        </p:nvSpPr>
        <p:spPr>
          <a:xfrm>
            <a:off x="4841266" y="4159433"/>
            <a:ext cx="1709560" cy="214185"/>
          </a:xfrm>
          <a:prstGeom prst="rect">
            <a:avLst/>
          </a:prstGeom>
          <a:noFill/>
          <a:ln/>
        </p:spPr>
        <p:txBody>
          <a:bodyPr wrap="none" lIns="0" tIns="0" rIns="0" bIns="0" rtlCol="0" anchor="t"/>
          <a:lstStyle/>
          <a:p>
            <a:pPr marL="0" indent="0" algn="ctr">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Enter City</a:t>
            </a:r>
            <a:endParaRPr lang="en-US" sz="1350" dirty="0"/>
          </a:p>
        </p:txBody>
      </p:sp>
      <p:sp>
        <p:nvSpPr>
          <p:cNvPr id="8" name="Text 5"/>
          <p:cNvSpPr/>
          <p:nvPr/>
        </p:nvSpPr>
        <p:spPr>
          <a:xfrm>
            <a:off x="6358653" y="2309066"/>
            <a:ext cx="1709559" cy="214185"/>
          </a:xfrm>
          <a:prstGeom prst="rect">
            <a:avLst/>
          </a:prstGeom>
          <a:noFill/>
          <a:ln/>
        </p:spPr>
        <p:txBody>
          <a:bodyPr wrap="none" lIns="0" tIns="0" rIns="0" bIns="0" rtlCol="0" anchor="t"/>
          <a:lstStyle/>
          <a:p>
            <a:pPr marL="0" indent="0" algn="ctr">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Fetch Data</a:t>
            </a:r>
            <a:endParaRPr lang="en-US" sz="1350" dirty="0"/>
          </a:p>
        </p:txBody>
      </p:sp>
      <p:sp>
        <p:nvSpPr>
          <p:cNvPr id="9" name="Text 6"/>
          <p:cNvSpPr/>
          <p:nvPr/>
        </p:nvSpPr>
        <p:spPr>
          <a:xfrm>
            <a:off x="523577" y="5323880"/>
            <a:ext cx="8554045" cy="89743"/>
          </a:xfrm>
          <a:prstGeom prst="rect">
            <a:avLst/>
          </a:prstGeom>
          <a:noFill/>
          <a:ln/>
        </p:spPr>
        <p:txBody>
          <a:bodyPr wrap="none" lIns="0" tIns="0" rIns="0" bIns="0" rtlCol="0" anchor="t"/>
          <a:lstStyle/>
          <a:p>
            <a:pPr marL="0" indent="0" algn="l">
              <a:lnSpc>
                <a:spcPct val="100000"/>
              </a:lnSpc>
              <a:buNone/>
            </a:pPr>
            <a:r>
              <a:rPr lang="en-US" sz="550" dirty="0">
                <a:solidFill>
                  <a:srgbClr val="00002E"/>
                </a:solidFill>
                <a:latin typeface="PT Sans" pitchFamily="34" charset="0"/>
                <a:ea typeface="PT Sans" pitchFamily="34" charset="-122"/>
                <a:cs typeface="PT Sans" pitchFamily="34" charset="-120"/>
              </a:rPr>
              <a:t>The console follows a menu-driven flow enabling Mock or Live modes, city lookup, result display, and persistent history.</a:t>
            </a:r>
            <a:endParaRPr lang="en-US" sz="550" dirty="0"/>
          </a:p>
        </p:txBody>
      </p:sp>
      <p:sp>
        <p:nvSpPr>
          <p:cNvPr id="11" name="Rectangle 10">
            <a:extLst>
              <a:ext uri="{FF2B5EF4-FFF2-40B4-BE49-F238E27FC236}">
                <a16:creationId xmlns:a16="http://schemas.microsoft.com/office/drawing/2014/main" id="{D15F23C1-6AEB-361D-C307-A15B21A03F95}"/>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411435"/>
            <a:ext cx="8096845"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Project Structure</a:t>
            </a:r>
            <a:endParaRPr lang="en-US" sz="1350" dirty="0"/>
          </a:p>
        </p:txBody>
      </p:sp>
      <p:pic>
        <p:nvPicPr>
          <p:cNvPr id="3" name="Image 0" descr="preencoded.png"/>
          <p:cNvPicPr>
            <a:picLocks noChangeAspect="1"/>
          </p:cNvPicPr>
          <p:nvPr/>
        </p:nvPicPr>
        <p:blipFill>
          <a:blip r:embed="rId3"/>
          <a:stretch>
            <a:fillRect/>
          </a:stretch>
        </p:blipFill>
        <p:spPr>
          <a:xfrm>
            <a:off x="523577" y="729481"/>
            <a:ext cx="5199087" cy="7795617"/>
          </a:xfrm>
          <a:prstGeom prst="rect">
            <a:avLst/>
          </a:prstGeom>
        </p:spPr>
      </p:pic>
      <p:sp>
        <p:nvSpPr>
          <p:cNvPr id="4" name="Shape 1"/>
          <p:cNvSpPr/>
          <p:nvPr/>
        </p:nvSpPr>
        <p:spPr>
          <a:xfrm>
            <a:off x="5905127" y="1717147"/>
            <a:ext cx="2715295" cy="405705"/>
          </a:xfrm>
          <a:prstGeom prst="roundRect">
            <a:avLst>
              <a:gd name="adj" fmla="val 27658"/>
            </a:avLst>
          </a:prstGeom>
          <a:solidFill>
            <a:srgbClr val="F3F3FF">
              <a:alpha val="75000"/>
            </a:srgbClr>
          </a:solidFill>
          <a:ln w="9525">
            <a:solidFill>
              <a:srgbClr val="2D4DF2"/>
            </a:solidFill>
            <a:prstDash val="solid"/>
          </a:ln>
        </p:spPr>
      </p:sp>
      <p:sp>
        <p:nvSpPr>
          <p:cNvPr id="5" name="Text 2"/>
          <p:cNvSpPr/>
          <p:nvPr/>
        </p:nvSpPr>
        <p:spPr>
          <a:xfrm>
            <a:off x="5989439" y="1801458"/>
            <a:ext cx="2546672" cy="109984"/>
          </a:xfrm>
          <a:prstGeom prst="rect">
            <a:avLst/>
          </a:prstGeom>
          <a:noFill/>
          <a:ln/>
        </p:spPr>
        <p:txBody>
          <a:bodyPr wrap="none" lIns="0" tIns="0" rIns="0" bIns="0" rtlCol="0" anchor="t"/>
          <a:lstStyle/>
          <a:p>
            <a:pPr marL="0" indent="0" algn="l">
              <a:lnSpc>
                <a:spcPct val="104000"/>
              </a:lnSpc>
              <a:buNone/>
            </a:pPr>
            <a:r>
              <a:rPr lang="en-US" sz="650" dirty="0">
                <a:solidFill>
                  <a:srgbClr val="00002E"/>
                </a:solidFill>
                <a:latin typeface="Nunito SemiBold" pitchFamily="34" charset="0"/>
                <a:ea typeface="Nunito SemiBold" pitchFamily="34" charset="-122"/>
                <a:cs typeface="Nunito SemiBold" pitchFamily="34" charset="-120"/>
              </a:rPr>
              <a:t>weather_app.py</a:t>
            </a:r>
            <a:endParaRPr lang="en-US" sz="650" dirty="0"/>
          </a:p>
        </p:txBody>
      </p:sp>
      <p:sp>
        <p:nvSpPr>
          <p:cNvPr id="6" name="Text 3"/>
          <p:cNvSpPr/>
          <p:nvPr/>
        </p:nvSpPr>
        <p:spPr>
          <a:xfrm>
            <a:off x="5989439" y="1948798"/>
            <a:ext cx="2546672" cy="89743"/>
          </a:xfrm>
          <a:prstGeom prst="rect">
            <a:avLst/>
          </a:prstGeom>
          <a:noFill/>
          <a:ln/>
        </p:spPr>
        <p:txBody>
          <a:bodyPr wrap="none" lIns="0" tIns="0" rIns="0" bIns="0" rtlCol="0" anchor="t"/>
          <a:lstStyle/>
          <a:p>
            <a:pPr marL="0" indent="0" algn="l">
              <a:lnSpc>
                <a:spcPct val="100000"/>
              </a:lnSpc>
              <a:buNone/>
            </a:pPr>
            <a:r>
              <a:rPr lang="en-US" sz="550" dirty="0">
                <a:solidFill>
                  <a:srgbClr val="00002E"/>
                </a:solidFill>
                <a:latin typeface="PT Sans" pitchFamily="34" charset="0"/>
                <a:ea typeface="PT Sans" pitchFamily="34" charset="-122"/>
                <a:cs typeface="PT Sans" pitchFamily="34" charset="-120"/>
              </a:rPr>
              <a:t>Main application logic (API, parsing, controller, display).</a:t>
            </a:r>
            <a:endParaRPr lang="en-US" sz="550" dirty="0"/>
          </a:p>
        </p:txBody>
      </p:sp>
      <p:sp>
        <p:nvSpPr>
          <p:cNvPr id="7" name="Shape 4"/>
          <p:cNvSpPr/>
          <p:nvPr/>
        </p:nvSpPr>
        <p:spPr>
          <a:xfrm>
            <a:off x="5905127" y="2160208"/>
            <a:ext cx="2715295" cy="405705"/>
          </a:xfrm>
          <a:prstGeom prst="roundRect">
            <a:avLst>
              <a:gd name="adj" fmla="val 27658"/>
            </a:avLst>
          </a:prstGeom>
          <a:solidFill>
            <a:srgbClr val="F3F3FF">
              <a:alpha val="75000"/>
            </a:srgbClr>
          </a:solidFill>
          <a:ln w="9525">
            <a:solidFill>
              <a:srgbClr val="018CE1"/>
            </a:solidFill>
            <a:prstDash val="solid"/>
          </a:ln>
        </p:spPr>
      </p:sp>
      <p:sp>
        <p:nvSpPr>
          <p:cNvPr id="8" name="Text 5"/>
          <p:cNvSpPr/>
          <p:nvPr/>
        </p:nvSpPr>
        <p:spPr>
          <a:xfrm>
            <a:off x="5989439" y="2244519"/>
            <a:ext cx="2546672" cy="109984"/>
          </a:xfrm>
          <a:prstGeom prst="rect">
            <a:avLst/>
          </a:prstGeom>
          <a:noFill/>
          <a:ln/>
        </p:spPr>
        <p:txBody>
          <a:bodyPr wrap="none" lIns="0" tIns="0" rIns="0" bIns="0" rtlCol="0" anchor="t"/>
          <a:lstStyle/>
          <a:p>
            <a:pPr marL="0" indent="0" algn="l">
              <a:lnSpc>
                <a:spcPct val="104000"/>
              </a:lnSpc>
              <a:buNone/>
            </a:pPr>
            <a:r>
              <a:rPr lang="en-US" sz="650" dirty="0">
                <a:solidFill>
                  <a:srgbClr val="00002E"/>
                </a:solidFill>
                <a:latin typeface="Nunito SemiBold" pitchFamily="34" charset="0"/>
                <a:ea typeface="Nunito SemiBold" pitchFamily="34" charset="-122"/>
                <a:cs typeface="Nunito SemiBold" pitchFamily="34" charset="-120"/>
              </a:rPr>
              <a:t>weather_history.json</a:t>
            </a:r>
            <a:endParaRPr lang="en-US" sz="650" dirty="0"/>
          </a:p>
        </p:txBody>
      </p:sp>
      <p:sp>
        <p:nvSpPr>
          <p:cNvPr id="9" name="Text 6"/>
          <p:cNvSpPr/>
          <p:nvPr/>
        </p:nvSpPr>
        <p:spPr>
          <a:xfrm>
            <a:off x="5989439" y="2391859"/>
            <a:ext cx="2546672" cy="89743"/>
          </a:xfrm>
          <a:prstGeom prst="rect">
            <a:avLst/>
          </a:prstGeom>
          <a:noFill/>
          <a:ln/>
        </p:spPr>
        <p:txBody>
          <a:bodyPr wrap="none" lIns="0" tIns="0" rIns="0" bIns="0" rtlCol="0" anchor="t"/>
          <a:lstStyle/>
          <a:p>
            <a:pPr marL="0" indent="0" algn="l">
              <a:lnSpc>
                <a:spcPct val="100000"/>
              </a:lnSpc>
              <a:buNone/>
            </a:pPr>
            <a:r>
              <a:rPr lang="en-US" sz="550" dirty="0">
                <a:solidFill>
                  <a:srgbClr val="00002E"/>
                </a:solidFill>
                <a:latin typeface="PT Sans" pitchFamily="34" charset="0"/>
                <a:ea typeface="PT Sans" pitchFamily="34" charset="-122"/>
                <a:cs typeface="PT Sans" pitchFamily="34" charset="-120"/>
              </a:rPr>
              <a:t>Persistent search history storage.</a:t>
            </a:r>
            <a:endParaRPr lang="en-US" sz="550" dirty="0"/>
          </a:p>
        </p:txBody>
      </p:sp>
      <p:sp>
        <p:nvSpPr>
          <p:cNvPr id="10" name="Shape 7"/>
          <p:cNvSpPr/>
          <p:nvPr/>
        </p:nvSpPr>
        <p:spPr>
          <a:xfrm>
            <a:off x="5905127" y="2603269"/>
            <a:ext cx="2715295" cy="405705"/>
          </a:xfrm>
          <a:prstGeom prst="roundRect">
            <a:avLst>
              <a:gd name="adj" fmla="val 27658"/>
            </a:avLst>
          </a:prstGeom>
          <a:solidFill>
            <a:srgbClr val="F3F3FF">
              <a:alpha val="75000"/>
            </a:srgbClr>
          </a:solidFill>
          <a:ln w="9525">
            <a:solidFill>
              <a:srgbClr val="DA33BF"/>
            </a:solidFill>
            <a:prstDash val="solid"/>
          </a:ln>
        </p:spPr>
      </p:sp>
      <p:sp>
        <p:nvSpPr>
          <p:cNvPr id="11" name="Text 8"/>
          <p:cNvSpPr/>
          <p:nvPr/>
        </p:nvSpPr>
        <p:spPr>
          <a:xfrm>
            <a:off x="5989439" y="2687580"/>
            <a:ext cx="2546672" cy="109984"/>
          </a:xfrm>
          <a:prstGeom prst="rect">
            <a:avLst/>
          </a:prstGeom>
          <a:noFill/>
          <a:ln/>
        </p:spPr>
        <p:txBody>
          <a:bodyPr wrap="none" lIns="0" tIns="0" rIns="0" bIns="0" rtlCol="0" anchor="t"/>
          <a:lstStyle/>
          <a:p>
            <a:pPr marL="0" indent="0" algn="l">
              <a:lnSpc>
                <a:spcPct val="104000"/>
              </a:lnSpc>
              <a:buNone/>
            </a:pPr>
            <a:r>
              <a:rPr lang="en-US" sz="650" dirty="0">
                <a:solidFill>
                  <a:srgbClr val="00002E"/>
                </a:solidFill>
                <a:latin typeface="Nunito SemiBold" pitchFamily="34" charset="0"/>
                <a:ea typeface="Nunito SemiBold" pitchFamily="34" charset="-122"/>
                <a:cs typeface="Nunito SemiBold" pitchFamily="34" charset="-120"/>
              </a:rPr>
              <a:t>weather_app.log</a:t>
            </a:r>
            <a:endParaRPr lang="en-US" sz="650" dirty="0"/>
          </a:p>
        </p:txBody>
      </p:sp>
      <p:sp>
        <p:nvSpPr>
          <p:cNvPr id="12" name="Text 9"/>
          <p:cNvSpPr/>
          <p:nvPr/>
        </p:nvSpPr>
        <p:spPr>
          <a:xfrm>
            <a:off x="5989439" y="2834920"/>
            <a:ext cx="2546672" cy="89743"/>
          </a:xfrm>
          <a:prstGeom prst="rect">
            <a:avLst/>
          </a:prstGeom>
          <a:noFill/>
          <a:ln/>
        </p:spPr>
        <p:txBody>
          <a:bodyPr wrap="none" lIns="0" tIns="0" rIns="0" bIns="0" rtlCol="0" anchor="t"/>
          <a:lstStyle/>
          <a:p>
            <a:pPr marL="0" indent="0" algn="l">
              <a:lnSpc>
                <a:spcPct val="100000"/>
              </a:lnSpc>
              <a:buNone/>
            </a:pPr>
            <a:r>
              <a:rPr lang="en-US" sz="550" dirty="0">
                <a:solidFill>
                  <a:srgbClr val="00002E"/>
                </a:solidFill>
                <a:latin typeface="PT Sans" pitchFamily="34" charset="0"/>
                <a:ea typeface="PT Sans" pitchFamily="34" charset="-122"/>
                <a:cs typeface="PT Sans" pitchFamily="34" charset="-120"/>
              </a:rPr>
              <a:t>Event logging with timestamps for debugging and audit.</a:t>
            </a:r>
            <a:endParaRPr lang="en-US" sz="550" dirty="0"/>
          </a:p>
        </p:txBody>
      </p:sp>
      <p:sp>
        <p:nvSpPr>
          <p:cNvPr id="16" name="Rectangle 15">
            <a:extLst>
              <a:ext uri="{FF2B5EF4-FFF2-40B4-BE49-F238E27FC236}">
                <a16:creationId xmlns:a16="http://schemas.microsoft.com/office/drawing/2014/main" id="{939AD267-C9F9-BF53-FF1A-8E45935F63AF}"/>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884932"/>
            <a:ext cx="8096845" cy="440010"/>
          </a:xfrm>
          <a:prstGeom prst="rect">
            <a:avLst/>
          </a:prstGeom>
          <a:noFill/>
          <a:ln/>
        </p:spPr>
        <p:txBody>
          <a:bodyPr wrap="none" lIns="0" tIns="0" rIns="0" bIns="0" rtlCol="0" anchor="t"/>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Screenshots &amp; Sample Output</a:t>
            </a:r>
            <a:endParaRPr lang="en-US" sz="2750" dirty="0"/>
          </a:p>
        </p:txBody>
      </p:sp>
      <p:pic>
        <p:nvPicPr>
          <p:cNvPr id="3" name="Image 0" descr="preencoded.png"/>
          <p:cNvPicPr>
            <a:picLocks noChangeAspect="1"/>
          </p:cNvPicPr>
          <p:nvPr/>
        </p:nvPicPr>
        <p:blipFill>
          <a:blip r:embed="rId3"/>
          <a:stretch>
            <a:fillRect/>
          </a:stretch>
        </p:blipFill>
        <p:spPr>
          <a:xfrm>
            <a:off x="2716857" y="1720155"/>
            <a:ext cx="1795314" cy="1795314"/>
          </a:xfrm>
          <a:prstGeom prst="rect">
            <a:avLst/>
          </a:prstGeom>
        </p:spPr>
      </p:pic>
      <p:pic>
        <p:nvPicPr>
          <p:cNvPr id="4" name="Image 1" descr="preencoded.png"/>
          <p:cNvPicPr>
            <a:picLocks noChangeAspect="1"/>
          </p:cNvPicPr>
          <p:nvPr/>
        </p:nvPicPr>
        <p:blipFill>
          <a:blip r:embed="rId4"/>
          <a:stretch>
            <a:fillRect/>
          </a:stretch>
        </p:blipFill>
        <p:spPr>
          <a:xfrm>
            <a:off x="4631829" y="1720155"/>
            <a:ext cx="1795314" cy="1795314"/>
          </a:xfrm>
          <a:prstGeom prst="rect">
            <a:avLst/>
          </a:prstGeom>
        </p:spPr>
      </p:pic>
      <p:sp>
        <p:nvSpPr>
          <p:cNvPr id="5" name="Text 1"/>
          <p:cNvSpPr/>
          <p:nvPr/>
        </p:nvSpPr>
        <p:spPr>
          <a:xfrm>
            <a:off x="523577" y="3779713"/>
            <a:ext cx="8096845"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Sample console outputs show menu, a Bengaluru weather report (24.6°C), unit switches, data-source toggles, and saved history entries.</a:t>
            </a:r>
            <a:endParaRPr lang="en-US" sz="1150" dirty="0"/>
          </a:p>
        </p:txBody>
      </p:sp>
      <p:sp>
        <p:nvSpPr>
          <p:cNvPr id="7" name="Rectangle 6">
            <a:extLst>
              <a:ext uri="{FF2B5EF4-FFF2-40B4-BE49-F238E27FC236}">
                <a16:creationId xmlns:a16="http://schemas.microsoft.com/office/drawing/2014/main" id="{7FF065BF-836B-EE57-67ED-177873F1BF9E}"/>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1130350"/>
            <a:ext cx="4667845" cy="440010"/>
          </a:xfrm>
          <a:prstGeom prst="rect">
            <a:avLst/>
          </a:prstGeom>
          <a:noFill/>
          <a:ln/>
        </p:spPr>
        <p:txBody>
          <a:bodyPr wrap="none" lIns="0" tIns="0" rIns="0" bIns="0" rtlCol="0" anchor="t"/>
          <a:lstStyle/>
          <a:p>
            <a:pPr marL="0" indent="0" algn="l">
              <a:lnSpc>
                <a:spcPct val="104000"/>
              </a:lnSpc>
              <a:buNone/>
            </a:pPr>
            <a:r>
              <a:rPr lang="en-US" sz="2750" dirty="0">
                <a:solidFill>
                  <a:srgbClr val="00002E"/>
                </a:solidFill>
                <a:latin typeface="Nunito SemiBold" pitchFamily="34" charset="0"/>
                <a:ea typeface="Nunito SemiBold" pitchFamily="34" charset="-122"/>
                <a:cs typeface="Nunito SemiBold" pitchFamily="34" charset="-120"/>
              </a:rPr>
              <a:t>Error Handling &amp; Reliability</a:t>
            </a:r>
            <a:endParaRPr lang="en-US" sz="2750" dirty="0"/>
          </a:p>
        </p:txBody>
      </p:sp>
      <p:sp>
        <p:nvSpPr>
          <p:cNvPr id="4" name="Shape 1"/>
          <p:cNvSpPr/>
          <p:nvPr/>
        </p:nvSpPr>
        <p:spPr>
          <a:xfrm>
            <a:off x="523577" y="1794718"/>
            <a:ext cx="336575" cy="336575"/>
          </a:xfrm>
          <a:prstGeom prst="ellipse">
            <a:avLst/>
          </a:prstGeom>
          <a:solidFill>
            <a:srgbClr val="F3F3FF"/>
          </a:solidFill>
          <a:ln w="14288">
            <a:solidFill>
              <a:srgbClr val="2D4DF2"/>
            </a:solidFill>
            <a:prstDash val="solid"/>
          </a:ln>
        </p:spPr>
      </p:sp>
      <p:sp>
        <p:nvSpPr>
          <p:cNvPr id="5" name="Text 2"/>
          <p:cNvSpPr/>
          <p:nvPr/>
        </p:nvSpPr>
        <p:spPr>
          <a:xfrm>
            <a:off x="1009724" y="1846138"/>
            <a:ext cx="4181698"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Validated Scenarios</a:t>
            </a:r>
            <a:endParaRPr lang="en-US" sz="1350" dirty="0"/>
          </a:p>
        </p:txBody>
      </p:sp>
      <p:sp>
        <p:nvSpPr>
          <p:cNvPr id="6" name="Text 3"/>
          <p:cNvSpPr/>
          <p:nvPr/>
        </p:nvSpPr>
        <p:spPr>
          <a:xfrm>
            <a:off x="1009724" y="2155850"/>
            <a:ext cx="4181698" cy="71817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Empty city names, invalid API keys, city not found, network failures, timeouts, invalid API responses, corrupted/missing history files, invalid menu input, keyboard interrupts.</a:t>
            </a:r>
            <a:endParaRPr lang="en-US" sz="1150" dirty="0"/>
          </a:p>
        </p:txBody>
      </p:sp>
      <p:sp>
        <p:nvSpPr>
          <p:cNvPr id="7" name="Shape 4"/>
          <p:cNvSpPr/>
          <p:nvPr/>
        </p:nvSpPr>
        <p:spPr>
          <a:xfrm>
            <a:off x="523577" y="3173239"/>
            <a:ext cx="336575" cy="336575"/>
          </a:xfrm>
          <a:prstGeom prst="ellipse">
            <a:avLst/>
          </a:prstGeom>
          <a:solidFill>
            <a:srgbClr val="F3F3FF"/>
          </a:solidFill>
          <a:ln w="14288">
            <a:solidFill>
              <a:srgbClr val="018CE1"/>
            </a:solidFill>
            <a:prstDash val="solid"/>
          </a:ln>
        </p:spPr>
      </p:sp>
      <p:sp>
        <p:nvSpPr>
          <p:cNvPr id="8" name="Text 5"/>
          <p:cNvSpPr/>
          <p:nvPr/>
        </p:nvSpPr>
        <p:spPr>
          <a:xfrm>
            <a:off x="1009724" y="3224659"/>
            <a:ext cx="4181698" cy="219968"/>
          </a:xfrm>
          <a:prstGeom prst="rect">
            <a:avLst/>
          </a:prstGeom>
          <a:noFill/>
          <a:ln/>
        </p:spPr>
        <p:txBody>
          <a:bodyPr wrap="none" lIns="0" tIns="0" rIns="0" bIns="0" rtlCol="0" anchor="t"/>
          <a:lstStyle/>
          <a:p>
            <a:pPr marL="0" indent="0" algn="l">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Resilience</a:t>
            </a:r>
            <a:endParaRPr lang="en-US" sz="1350" dirty="0"/>
          </a:p>
        </p:txBody>
      </p:sp>
      <p:sp>
        <p:nvSpPr>
          <p:cNvPr id="9" name="Text 6"/>
          <p:cNvSpPr/>
          <p:nvPr/>
        </p:nvSpPr>
        <p:spPr>
          <a:xfrm>
            <a:off x="1009724" y="3534370"/>
            <a:ext cx="4181698"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00002E"/>
                </a:solidFill>
                <a:latin typeface="PT Sans" pitchFamily="34" charset="0"/>
                <a:ea typeface="PT Sans" pitchFamily="34" charset="-122"/>
                <a:cs typeface="PT Sans" pitchFamily="34" charset="-120"/>
              </a:rPr>
              <a:t>Mock Mode ensures functionality without network or API key; logs assist debugging.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3577" y="419323"/>
            <a:ext cx="8096845" cy="316260"/>
          </a:xfrm>
          <a:prstGeom prst="rect">
            <a:avLst/>
          </a:prstGeom>
          <a:noFill/>
          <a:ln/>
        </p:spPr>
        <p:txBody>
          <a:bodyPr wrap="none" lIns="0" tIns="0" rIns="0" bIns="0" rtlCol="0" anchor="t"/>
          <a:lstStyle/>
          <a:p>
            <a:pPr marL="0" indent="0" algn="l">
              <a:lnSpc>
                <a:spcPct val="104000"/>
              </a:lnSpc>
              <a:buNone/>
            </a:pPr>
            <a:r>
              <a:rPr lang="en-US" sz="1950" dirty="0">
                <a:solidFill>
                  <a:srgbClr val="00002E"/>
                </a:solidFill>
                <a:latin typeface="Nunito SemiBold" pitchFamily="34" charset="0"/>
                <a:ea typeface="Nunito SemiBold" pitchFamily="34" charset="-122"/>
                <a:cs typeface="Nunito SemiBold" pitchFamily="34" charset="-120"/>
              </a:rPr>
              <a:t>Future Enhancements &amp; Conclusion</a:t>
            </a:r>
            <a:endParaRPr lang="en-US" sz="1950" dirty="0"/>
          </a:p>
        </p:txBody>
      </p:sp>
      <p:sp>
        <p:nvSpPr>
          <p:cNvPr id="3" name="Text 1"/>
          <p:cNvSpPr/>
          <p:nvPr/>
        </p:nvSpPr>
        <p:spPr>
          <a:xfrm>
            <a:off x="523577" y="2210767"/>
            <a:ext cx="3917305" cy="1196578"/>
          </a:xfrm>
          <a:prstGeom prst="rect">
            <a:avLst/>
          </a:prstGeom>
          <a:noFill/>
          <a:ln/>
        </p:spPr>
        <p:txBody>
          <a:bodyPr wrap="square" lIns="0" tIns="0" rIns="0" bIns="0" rtlCol="0" anchor="t">
            <a:normAutofit/>
          </a:bodyPr>
          <a:lstStyle/>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5‑ and 7‑day forecasts</a:t>
            </a:r>
            <a:endParaRPr lang="en-US" sz="800" dirty="0"/>
          </a:p>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GPS-based search</a:t>
            </a:r>
            <a:endParaRPr lang="en-US" sz="800" dirty="0"/>
          </a:p>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Multiple weather providers</a:t>
            </a:r>
            <a:endParaRPr lang="en-US" sz="800" dirty="0"/>
          </a:p>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Export history to CSV/Excel</a:t>
            </a:r>
            <a:endParaRPr lang="en-US" sz="800" dirty="0"/>
          </a:p>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Weather charts and GUI (Tkinter)</a:t>
            </a:r>
            <a:endParaRPr lang="en-US" sz="800" dirty="0"/>
          </a:p>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Web app (Flask/Django) &amp; mobile support</a:t>
            </a:r>
            <a:endParaRPr lang="en-US" sz="800" dirty="0"/>
          </a:p>
          <a:p>
            <a:pPr marL="162560" indent="-162560" algn="l">
              <a:lnSpc>
                <a:spcPct val="115000"/>
              </a:lnSpc>
              <a:buSzPct val="100000"/>
              <a:buChar char="•"/>
            </a:pPr>
            <a:r>
              <a:rPr lang="en-US" sz="800" dirty="0">
                <a:solidFill>
                  <a:srgbClr val="00002E"/>
                </a:solidFill>
                <a:latin typeface="PT Sans" pitchFamily="34" charset="0"/>
                <a:ea typeface="PT Sans" pitchFamily="34" charset="-122"/>
                <a:cs typeface="PT Sans" pitchFamily="34" charset="-120"/>
              </a:rPr>
              <a:t>Voice-based search</a:t>
            </a:r>
            <a:endParaRPr lang="en-US" sz="800" dirty="0"/>
          </a:p>
        </p:txBody>
      </p:sp>
      <p:sp>
        <p:nvSpPr>
          <p:cNvPr id="4" name="Text 2"/>
          <p:cNvSpPr/>
          <p:nvPr/>
        </p:nvSpPr>
        <p:spPr>
          <a:xfrm>
            <a:off x="4707880" y="920948"/>
            <a:ext cx="3917305" cy="591145"/>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00002E"/>
                </a:solidFill>
                <a:latin typeface="PT Sans" pitchFamily="34" charset="0"/>
                <a:ea typeface="PT Sans" pitchFamily="34" charset="-122"/>
                <a:cs typeface="PT Sans" pitchFamily="34" charset="-120"/>
              </a:rPr>
              <a:t>Conclusion: The project strengthened API integration, JSON processing, modular programming, logging, and exception handling skills. Offline Mock Mode, live retrieval, history management, unit switching, and logging made the app practical for learning and demos.</a:t>
            </a:r>
            <a:endParaRPr lang="en-US" sz="800" dirty="0"/>
          </a:p>
        </p:txBody>
      </p:sp>
      <p:sp>
        <p:nvSpPr>
          <p:cNvPr id="5" name="Shape 3"/>
          <p:cNvSpPr/>
          <p:nvPr/>
        </p:nvSpPr>
        <p:spPr>
          <a:xfrm>
            <a:off x="4707880" y="1599009"/>
            <a:ext cx="3917305" cy="340519"/>
          </a:xfrm>
          <a:prstGeom prst="roundRect">
            <a:avLst>
              <a:gd name="adj" fmla="val 47369"/>
            </a:avLst>
          </a:prstGeom>
          <a:solidFill>
            <a:srgbClr val="CFD6FC"/>
          </a:solidFill>
          <a:ln/>
        </p:spPr>
      </p:sp>
      <p:pic>
        <p:nvPicPr>
          <p:cNvPr id="6" name="Image 0" descr="preencoded.png"/>
          <p:cNvPicPr>
            <a:picLocks noChangeAspect="1"/>
          </p:cNvPicPr>
          <p:nvPr/>
        </p:nvPicPr>
        <p:blipFill>
          <a:blip r:embed="rId3"/>
          <a:stretch>
            <a:fillRect/>
          </a:stretch>
        </p:blipFill>
        <p:spPr>
          <a:xfrm>
            <a:off x="4815408" y="1753567"/>
            <a:ext cx="134392" cy="107528"/>
          </a:xfrm>
          <a:prstGeom prst="rect">
            <a:avLst/>
          </a:prstGeom>
        </p:spPr>
      </p:pic>
      <p:sp>
        <p:nvSpPr>
          <p:cNvPr id="7" name="Text 4"/>
          <p:cNvSpPr/>
          <p:nvPr/>
        </p:nvSpPr>
        <p:spPr>
          <a:xfrm>
            <a:off x="5057329" y="1695376"/>
            <a:ext cx="3917528" cy="147786"/>
          </a:xfrm>
          <a:prstGeom prst="rect">
            <a:avLst/>
          </a:prstGeom>
          <a:noFill/>
          <a:ln/>
        </p:spPr>
        <p:txBody>
          <a:bodyPr wrap="none" lIns="0" tIns="0" rIns="0" bIns="0" rtlCol="0" anchor="t"/>
          <a:lstStyle/>
          <a:p>
            <a:pPr marL="0" indent="0" algn="l">
              <a:lnSpc>
                <a:spcPct val="115000"/>
              </a:lnSpc>
              <a:buNone/>
            </a:pPr>
            <a:r>
              <a:rPr lang="en-US" sz="800" dirty="0">
                <a:solidFill>
                  <a:srgbClr val="000000"/>
                </a:solidFill>
                <a:latin typeface="PT Sans" pitchFamily="34" charset="0"/>
                <a:ea typeface="PT Sans" pitchFamily="34" charset="-122"/>
                <a:cs typeface="PT Sans" pitchFamily="34" charset="-120"/>
              </a:rPr>
              <a:t>Code &amp; dataset are ideal next steps for GUI or web deployment.</a:t>
            </a:r>
            <a:endParaRPr lang="en-US" sz="800" dirty="0"/>
          </a:p>
        </p:txBody>
      </p:sp>
      <p:pic>
        <p:nvPicPr>
          <p:cNvPr id="8" name="Image 1" descr="preencoded.png"/>
          <p:cNvPicPr>
            <a:picLocks noChangeAspect="1"/>
          </p:cNvPicPr>
          <p:nvPr/>
        </p:nvPicPr>
        <p:blipFill>
          <a:blip r:embed="rId4"/>
          <a:stretch>
            <a:fillRect/>
          </a:stretch>
        </p:blipFill>
        <p:spPr>
          <a:xfrm>
            <a:off x="4707880" y="2026444"/>
            <a:ext cx="3917305" cy="2610817"/>
          </a:xfrm>
          <a:prstGeom prst="rect">
            <a:avLst/>
          </a:prstGeom>
        </p:spPr>
      </p:pic>
      <p:sp>
        <p:nvSpPr>
          <p:cNvPr id="10" name="Rectangle 9">
            <a:extLst>
              <a:ext uri="{FF2B5EF4-FFF2-40B4-BE49-F238E27FC236}">
                <a16:creationId xmlns:a16="http://schemas.microsoft.com/office/drawing/2014/main" id="{5B79B034-8C6F-F9EA-0E4C-D01F96A7CB1D}"/>
              </a:ext>
            </a:extLst>
          </p:cNvPr>
          <p:cNvSpPr/>
          <p:nvPr/>
        </p:nvSpPr>
        <p:spPr>
          <a:xfrm>
            <a:off x="7849772" y="4797083"/>
            <a:ext cx="1498210" cy="54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479</Words>
  <Application>Microsoft Office PowerPoint</Application>
  <PresentationFormat>On-screen Show (16:9)</PresentationFormat>
  <Paragraphs>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PT Sans</vt:lpstr>
      <vt:lpstr>Nunito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Ardra Rajesh</cp:lastModifiedBy>
  <cp:revision>2</cp:revision>
  <dcterms:created xsi:type="dcterms:W3CDTF">2026-07-07T13:33:51Z</dcterms:created>
  <dcterms:modified xsi:type="dcterms:W3CDTF">2026-07-11T08:52:04Z</dcterms:modified>
</cp:coreProperties>
</file>